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74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B32E"/>
    <a:srgbClr val="B3D0E0"/>
    <a:srgbClr val="257325"/>
    <a:srgbClr val="50B32D"/>
    <a:srgbClr val="002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30"/>
    <p:restoredTop sz="74746"/>
  </p:normalViewPr>
  <p:slideViewPr>
    <p:cSldViewPr snapToGrid="0">
      <p:cViewPr varScale="1">
        <p:scale>
          <a:sx n="83" d="100"/>
          <a:sy n="83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</a:rPr>
              <a:t>Folie mittels Klicken verschieben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Format der Notizen mittels Klicken bearbeiten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&lt;Kopfzeile&gt;</a:t>
            </a:r>
          </a:p>
        </p:txBody>
      </p:sp>
      <p:sp>
        <p:nvSpPr>
          <p:cNvPr id="80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&lt;Datum/Uhrzeit&gt;</a:t>
            </a:r>
          </a:p>
        </p:txBody>
      </p:sp>
      <p:sp>
        <p:nvSpPr>
          <p:cNvPr id="81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</a:p>
        </p:txBody>
      </p:sp>
      <p:sp>
        <p:nvSpPr>
          <p:cNvPr id="82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</a:pPr>
            <a:fld id="{BAC798E9-FE83-42F6-8298-4D24A33B73E6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‹Nr.›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ienretter.de/autoritaerer-fuehrungsstil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algn="l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Sinn der Struktur, der Phasen, des Modells: </a:t>
            </a: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genaue Diagnose und Durchdringung des Falls auf der emotionalen und kognitiven Ebene 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Wingdings"/>
              </a:rPr>
              <a:t>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bevor dieser Prozess nicht abgeschlossen ist, können keine sinnvollen Maßnahmen und Lösungen generiert werden.</a:t>
            </a:r>
          </a:p>
          <a:p>
            <a:pPr indent="0" algn="l">
              <a:lnSpc>
                <a:spcPct val="100000"/>
              </a:lnSpc>
              <a:buNone/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Der Ansatz des </a:t>
            </a:r>
            <a:r>
              <a:rPr lang="de-DE" sz="2000" b="1" u="sng" strike="noStrike">
                <a:solidFill>
                  <a:srgbClr val="000000"/>
                </a:solidFill>
                <a:effectLst/>
                <a:uFillTx/>
                <a:latin typeface="Calibri"/>
                <a:hlinkClick r:id="rId3"/>
              </a:rPr>
              <a:t>autoritären Führungsstils</a:t>
            </a: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 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gründet sich auf </a:t>
            </a: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Kontrolle von oben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 Die Entscheidungen werden von den Führungskräften getroffen und müssen von allen Mitarbeitern akzeptiert werden — die Einbringung der eigenen Meinungen ist </a:t>
            </a: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unerwünscht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 Eine wichtige Voraussetzung für diesen Führungsstil ist eine </a:t>
            </a: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kompetente Führungskraft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, da diese allein die </a:t>
            </a: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Macht und Kontrolle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über das Unternehmen hat.</a:t>
            </a:r>
          </a:p>
          <a:p>
            <a:pPr indent="0" algn="l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Dies führt dazu, dass Mitarbeiter kaum Handlungsspielraum haben und die </a:t>
            </a: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Mitarbeiterzufriedenheit sinkt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, da sie sich nicht mit dem Unternehmen identifizieren können. Der Vorteil ist jedoch, dass das Unternehmen sehr </a:t>
            </a: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kurzfristig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handeln kann, da Entscheidungen nicht diskutiert werden müssen — dies </a:t>
            </a:r>
            <a:r>
              <a:rPr lang="de-DE" sz="20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spart Kosten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</a:p>
          <a:p>
            <a:pPr indent="0" algn="l">
              <a:lnSpc>
                <a:spcPct val="100000"/>
              </a:lnSpc>
              <a:buNone/>
            </a:pPr>
            <a:endParaRPr lang="de-DE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42" name="PlaceHolder 3"/>
          <p:cNvSpPr>
            <a:spLocks noGrp="1"/>
          </p:cNvSpPr>
          <p:nvPr>
            <p:ph type="sldNum" idx="20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DEC738-FA1B-4C00-8DEE-48F4E42D4A48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6328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wischen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2440"/>
            <a:ext cx="12191760" cy="655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5200"/>
              <a:gd name="textAreaBottom" fmla="*/ 655560 h 6552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" name="Logo der ph Karlsruh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21280" y="6318720"/>
            <a:ext cx="1154160" cy="4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Grauer Kaste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5200" y="1447200"/>
            <a:ext cx="7448040" cy="3826440"/>
          </a:xfrm>
          <a:custGeom>
            <a:avLst/>
            <a:gdLst>
              <a:gd name="textAreaLeft" fmla="*/ 0 w 7448040"/>
              <a:gd name="textAreaRight" fmla="*/ 7448400 w 7448040"/>
              <a:gd name="textAreaTop" fmla="*/ 0 h 3826440"/>
              <a:gd name="textAreaBottom" fmla="*/ 3826800 h 3826440"/>
            </a:gdLst>
            <a:ahLst/>
            <a:cxnLst/>
            <a:rect l="textAreaLeft" t="textAreaTop" r="textAreaRight" b="textAreaBottom"/>
            <a:pathLst>
              <a:path w="12242165" h="6289040">
                <a:moveTo>
                  <a:pt x="0" y="0"/>
                </a:moveTo>
                <a:lnTo>
                  <a:pt x="0" y="6289023"/>
                </a:lnTo>
                <a:lnTo>
                  <a:pt x="12242108" y="5941306"/>
                </a:lnTo>
                <a:lnTo>
                  <a:pt x="12242108" y="347717"/>
                </a:lnTo>
                <a:lnTo>
                  <a:pt x="0" y="0"/>
                </a:lnTo>
                <a:close/>
              </a:path>
            </a:pathLst>
          </a:custGeom>
          <a:solidFill>
            <a:srgbClr val="F0F0F0">
              <a:alpha val="9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body" hasCustomPrompt="1"/>
          </p:nvPr>
        </p:nvSpPr>
        <p:spPr>
          <a:xfrm>
            <a:off x="2768040" y="3898800"/>
            <a:ext cx="6846480" cy="5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Subline des Zwischentitels darf entfallen</a:t>
            </a:r>
            <a:endParaRPr lang="de-DE" sz="20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 hasCustomPrompt="1"/>
          </p:nvPr>
        </p:nvSpPr>
        <p:spPr>
          <a:xfrm>
            <a:off x="2769120" y="2225160"/>
            <a:ext cx="6845040" cy="158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buNone/>
              <a:defRPr lang="de-DE" sz="5000" b="1" u="none" strike="noStrike" spc="-31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5000" b="1" u="none" strike="noStrike" spc="-31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Zwischentitel </a:t>
            </a:r>
            <a:br>
              <a:rPr sz="5000"/>
            </a:br>
            <a:r>
              <a:rPr lang="de-DE" sz="5000" b="1" u="none" strike="noStrike" spc="-11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Headline</a:t>
            </a:r>
            <a:endParaRPr lang="de-DE" sz="5000" b="1" u="none" strike="noStrike">
              <a:solidFill>
                <a:srgbClr val="267326"/>
              </a:solidFill>
              <a:effectLst/>
              <a:uFillTx/>
              <a:latin typeface="Source Sans Pro"/>
            </a:endParaRPr>
          </a:p>
        </p:txBody>
      </p:sp>
      <p:sp>
        <p:nvSpPr>
          <p:cNvPr id="7" name="Rechteck 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 hasCustomPrompt="1"/>
          </p:nvPr>
        </p:nvSpPr>
        <p:spPr>
          <a:xfrm>
            <a:off x="579600" y="293040"/>
            <a:ext cx="5622120" cy="153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666666"/>
                </a:solidFill>
                <a:effectLst/>
                <a:uFillTx/>
                <a:latin typeface="Helvetica Neue"/>
                <a:ea typeface="Source Sans Pro"/>
              </a:defRPr>
            </a:lvl1pPr>
            <a:lvl2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666666"/>
                </a:solidFill>
                <a:effectLst/>
                <a:uFillTx/>
                <a:latin typeface="Helvetica Neue"/>
                <a:ea typeface="Source Sans Pro"/>
              </a:defRPr>
            </a:lvl2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rgbClr val="666666"/>
                </a:solidFill>
                <a:effectLst/>
                <a:uFillTx/>
                <a:latin typeface="Helvetica Neue"/>
                <a:ea typeface="Source Sans Pro"/>
              </a:rPr>
              <a:t>Hinweis:                                                                                                                     Hier Bild einfügen: Rechtsklick auf das Hintergrundbild (grüne Fläche) &gt; Hintergrund formatieren &gt; Bild- oder Texturfüllung &gt; Bildquelle einfügen ggf. Transparenz anpassen </a:t>
            </a:r>
            <a:endParaRPr lang="de-DE" sz="16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rgbClr val="666666"/>
                </a:solidFill>
                <a:effectLst/>
                <a:uFillTx/>
                <a:latin typeface="Helvetica Neue"/>
                <a:ea typeface="Source Sans Pro"/>
              </a:rPr>
              <a:t>                                                                                        </a:t>
            </a:r>
            <a:endParaRPr lang="de-DE" sz="16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</p:txBody>
      </p:sp>
      <p:sp>
        <p:nvSpPr>
          <p:cNvPr id="9" name="Textplatzhalter 4"/>
          <p:cNvSpPr/>
          <p:nvPr/>
        </p:nvSpPr>
        <p:spPr>
          <a:xfrm>
            <a:off x="539640" y="6577920"/>
            <a:ext cx="4010040" cy="23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de-DE" sz="750" b="1" u="none" strike="noStrike">
              <a:solidFill>
                <a:srgbClr val="666666"/>
              </a:solidFill>
              <a:effectLst/>
              <a:uFillTx/>
              <a:latin typeface="Source Sans Pro SemiBold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1"/>
          </p:nvPr>
        </p:nvSpPr>
        <p:spPr>
          <a:xfrm>
            <a:off x="615960" y="5837400"/>
            <a:ext cx="4211640" cy="73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1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1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Source Sans Pro"/>
                <a:ea typeface="Source Sans Pro"/>
              </a:rPr>
              <a:t>&lt;Fußzeile&gt;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2440"/>
            <a:ext cx="12191760" cy="655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5200"/>
              <a:gd name="textAreaBottom" fmla="*/ 655560 h 6552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" name="Logo der ph Karlsruh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21280" y="6318720"/>
            <a:ext cx="1154160" cy="4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15960" y="365040"/>
            <a:ext cx="109598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Titelmasterformat durch Klicken bearbeiten</a:t>
            </a:r>
            <a:endParaRPr lang="de-DE" sz="5000" b="1" u="none" strike="noStrike">
              <a:solidFill>
                <a:srgbClr val="267326"/>
              </a:solidFill>
              <a:effectLst/>
              <a:uFillTx/>
              <a:latin typeface="Source Sans Pro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15960" y="1825560"/>
            <a:ext cx="10959840" cy="381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Textmasterformat bearbeiten</a:t>
            </a:r>
            <a:endParaRPr lang="de-DE" sz="28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Zweite Ebene</a:t>
            </a:r>
            <a:endParaRPr lang="de-DE" sz="24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Dritte Ebene</a:t>
            </a:r>
            <a:endParaRPr lang="de-DE" sz="20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Vierte Ebene</a:t>
            </a:r>
            <a:endParaRPr lang="de-DE" sz="18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Fünfte Ebene</a:t>
            </a:r>
            <a:endParaRPr lang="de-DE" sz="18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2"/>
          </p:nvPr>
        </p:nvSpPr>
        <p:spPr>
          <a:xfrm>
            <a:off x="958680" y="6519960"/>
            <a:ext cx="10274040" cy="15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3859200" algn="ctr"/>
                <a:tab pos="7702560" algn="r"/>
              </a:tabLst>
              <a:defRPr lang="de-DE" sz="1000" b="0" u="none" strike="noStrike">
                <a:solidFill>
                  <a:srgbClr val="333333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3859200" algn="ctr"/>
                <a:tab pos="7702560" algn="r"/>
              </a:tabLst>
            </a:pPr>
            <a:r>
              <a:rPr lang="de-DE" sz="100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Eva Prinz 	</a:t>
            </a:r>
            <a:fld id="{04A8FC4C-B33E-433E-B8E0-931698709424}" type="slidenum">
              <a:rPr lang="de-DE" sz="100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‹Nr.›</a:t>
            </a:fld>
            <a:r>
              <a:rPr lang="de-DE" sz="100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 	© 2010 Universität Tübingen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2440"/>
            <a:ext cx="12191760" cy="655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5200"/>
              <a:gd name="textAreaBottom" fmla="*/ 655560 h 6552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7" name="Logo der ph Karlsruh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21280" y="6318720"/>
            <a:ext cx="1154160" cy="4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15960" y="365040"/>
            <a:ext cx="109598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Titelmasterformat durch Klicken bearbeiten</a:t>
            </a:r>
            <a:endParaRPr lang="de-DE" sz="5000" b="1" u="none" strike="noStrike">
              <a:solidFill>
                <a:srgbClr val="267326"/>
              </a:solidFill>
              <a:effectLst/>
              <a:uFillTx/>
              <a:latin typeface="Source Sans Pro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7702560" algn="r"/>
              </a:tabLst>
              <a:defRPr lang="de-DE" sz="1000" b="0" u="none" strike="noStrike">
                <a:solidFill>
                  <a:srgbClr val="333333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7702560" algn="r"/>
              </a:tabLst>
            </a:pPr>
            <a:fld id="{88F3DA32-153E-419D-9A82-954F4726FD89}" type="slidenum">
              <a:rPr lang="de-DE" sz="100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‹Nr.›</a:t>
            </a:fld>
            <a:r>
              <a:rPr lang="de-DE" sz="1000" b="0" u="none" strike="noStrike">
                <a:solidFill>
                  <a:srgbClr val="333333"/>
                </a:solidFill>
                <a:effectLst/>
                <a:uFillTx/>
                <a:latin typeface="Arial"/>
              </a:rPr>
              <a:t> | Autor/Verfasser/Thema/Rubrik/Titel etc.	© 2010 Universität Tübingen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Siebte Gliederungsebene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2440"/>
            <a:ext cx="12191760" cy="655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5200"/>
              <a:gd name="textAreaBottom" fmla="*/ 655560 h 6552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2" name="Logo der ph Karlsruh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21280" y="6318720"/>
            <a:ext cx="1154160" cy="4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sldNum" idx="4"/>
          </p:nvPr>
        </p:nvSpPr>
        <p:spPr>
          <a:xfrm>
            <a:off x="958680" y="6519960"/>
            <a:ext cx="10274040" cy="15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0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4FBFF8F-B2D2-4642-A934-456B1953364F}" type="slidenum">
              <a:rPr lang="de-DE" sz="10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‹Nr.›</a:t>
            </a:fld>
            <a:r>
              <a:rPr lang="de-DE" sz="100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 | Autor/Verfasser/Thema/Rubrik/Titel etc.	© 2010 Universität Tübingen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</a:rPr>
              <a:t>Format des Titeltextes durch Klicken bearbeiten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Siebte Gliederungsebene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2440"/>
            <a:ext cx="12191760" cy="655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5200"/>
              <a:gd name="textAreaBottom" fmla="*/ 655560 h 6552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" name="Logo der ph Karlsruh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21280" y="6318720"/>
            <a:ext cx="1154160" cy="4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</a:rPr>
              <a:t>Format des Titeltextes durch Klicken bearbeiten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Siebte Gliederungsebene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wischentitel Blank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2440"/>
            <a:ext cx="12191760" cy="655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5200"/>
              <a:gd name="textAreaBottom" fmla="*/ 655560 h 6552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1" name="Logo der ph Karlsruh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21280" y="6318720"/>
            <a:ext cx="1154160" cy="4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5200" y="1449000"/>
            <a:ext cx="7448400" cy="3826080"/>
          </a:xfrm>
          <a:custGeom>
            <a:avLst/>
            <a:gdLst>
              <a:gd name="textAreaLeft" fmla="*/ 0 w 7448400"/>
              <a:gd name="textAreaRight" fmla="*/ 7448760 w 7448400"/>
              <a:gd name="textAreaTop" fmla="*/ 0 h 3826080"/>
              <a:gd name="textAreaBottom" fmla="*/ 3826440 h 3826080"/>
            </a:gdLst>
            <a:ahLst/>
            <a:cxnLst/>
            <a:rect l="textAreaLeft" t="textAreaTop" r="textAreaRight" b="textAreaBottom"/>
            <a:pathLst>
              <a:path w="12242165" h="6289040">
                <a:moveTo>
                  <a:pt x="0" y="0"/>
                </a:moveTo>
                <a:lnTo>
                  <a:pt x="0" y="6289023"/>
                </a:lnTo>
                <a:lnTo>
                  <a:pt x="12242108" y="5941306"/>
                </a:lnTo>
                <a:lnTo>
                  <a:pt x="12242108" y="347717"/>
                </a:lnTo>
                <a:lnTo>
                  <a:pt x="0" y="0"/>
                </a:lnTo>
                <a:close/>
              </a:path>
            </a:pathLst>
          </a:custGeom>
          <a:solidFill>
            <a:srgbClr val="2673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 hasCustomPrompt="1"/>
          </p:nvPr>
        </p:nvSpPr>
        <p:spPr>
          <a:xfrm>
            <a:off x="2769120" y="2225160"/>
            <a:ext cx="6845040" cy="1581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buNone/>
              <a:defRPr lang="de-DE" sz="5000" b="1" u="none" strike="noStrike" spc="-31">
                <a:solidFill>
                  <a:schemeClr val="lt1"/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5000" b="1" u="none" strike="noStrike" spc="-31">
                <a:solidFill>
                  <a:schemeClr val="lt1"/>
                </a:solidFill>
                <a:effectLst/>
                <a:uFillTx/>
                <a:latin typeface="Source Sans Pro"/>
                <a:ea typeface="Source Sans Pro"/>
              </a:rPr>
              <a:t>Zwischentitel </a:t>
            </a:r>
            <a:br>
              <a:rPr sz="5000"/>
            </a:br>
            <a:r>
              <a:rPr lang="de-DE" sz="5000" b="1" u="none" strike="noStrike" spc="-11">
                <a:solidFill>
                  <a:schemeClr val="lt1"/>
                </a:solidFill>
                <a:effectLst/>
                <a:uFillTx/>
                <a:latin typeface="Source Sans Pro"/>
                <a:ea typeface="Source Sans Pro"/>
              </a:rPr>
              <a:t>Headline</a:t>
            </a:r>
            <a:endParaRPr lang="de-DE" sz="5000" b="1" u="none" strike="noStrike">
              <a:solidFill>
                <a:schemeClr val="lt1"/>
              </a:solidFill>
              <a:effectLst/>
              <a:uFillTx/>
              <a:latin typeface="Source Sans Pro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 hasCustomPrompt="1"/>
          </p:nvPr>
        </p:nvSpPr>
        <p:spPr>
          <a:xfrm>
            <a:off x="2768040" y="3898800"/>
            <a:ext cx="6846480" cy="585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lt1"/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Source Sans Pro"/>
                <a:ea typeface="Source Sans Pro"/>
              </a:rPr>
              <a:t>Subline des Zwischentitels darf entfallen</a:t>
            </a:r>
            <a:endParaRPr lang="de-DE" sz="2000" b="1" u="none" strike="noStrike">
              <a:solidFill>
                <a:schemeClr val="lt1"/>
              </a:solidFill>
              <a:effectLst/>
              <a:uFillTx/>
              <a:latin typeface="Source Sans Pro"/>
            </a:endParaRPr>
          </a:p>
        </p:txBody>
      </p:sp>
      <p:sp>
        <p:nvSpPr>
          <p:cNvPr id="35" name="Textplatzhalter 4"/>
          <p:cNvSpPr/>
          <p:nvPr/>
        </p:nvSpPr>
        <p:spPr>
          <a:xfrm>
            <a:off x="539640" y="6577920"/>
            <a:ext cx="4010040" cy="23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de-DE" sz="750" b="1" u="none" strike="noStrike">
              <a:solidFill>
                <a:srgbClr val="666666"/>
              </a:solidFill>
              <a:effectLst/>
              <a:uFillTx/>
              <a:latin typeface="Source Sans Pro SemiBold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ftr" idx="5"/>
          </p:nvPr>
        </p:nvSpPr>
        <p:spPr>
          <a:xfrm>
            <a:off x="615960" y="5837400"/>
            <a:ext cx="4211640" cy="73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1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1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Source Sans Pro"/>
                <a:ea typeface="Source Sans Pro"/>
              </a:rPr>
              <a:t>&lt;Fußzeile&gt;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zweizeilig, große Head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2440"/>
            <a:ext cx="12191760" cy="655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5200"/>
              <a:gd name="textAreaBottom" fmla="*/ 655560 h 6552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8" name="Logo der ph Karlsruh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21280" y="6318720"/>
            <a:ext cx="1154160" cy="4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623880" y="2115360"/>
            <a:ext cx="10944000" cy="393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tabLst>
                <a:tab pos="0" algn="l"/>
              </a:tabLst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tabLst>
                <a:tab pos="0" algn="l"/>
              </a:tabLst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tabLst>
                <a:tab pos="0" algn="l"/>
              </a:tabLst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tabLst>
                <a:tab pos="0" algn="l"/>
              </a:tabLst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Mastertextformat bearbeiten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Zweite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Dritte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Vierte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tabLst>
                <a:tab pos="0" algn="l"/>
              </a:tabLst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Fünfte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 hasCustomPrompt="1"/>
          </p:nvPr>
        </p:nvSpPr>
        <p:spPr>
          <a:xfrm>
            <a:off x="623880" y="620640"/>
            <a:ext cx="10944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indent="0" algn="l" defTabSz="914400">
              <a:lnSpc>
                <a:spcPct val="90000"/>
              </a:lnSpc>
              <a:buNone/>
              <a:def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Große</a:t>
            </a:r>
            <a:r>
              <a:rPr lang="de-DE" sz="5000" b="1" u="none" strike="noStrike" spc="-334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 </a:t>
            </a:r>
            <a:r>
              <a:rPr lang="de-DE" sz="5000" b="1" u="none" strike="noStrike" spc="-11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Headline</a:t>
            </a:r>
            <a:r>
              <a:rPr lang="de-DE" sz="5000" b="1" u="none" strike="noStrike" spc="-329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 </a:t>
            </a:r>
            <a:r>
              <a:rPr lang="de-DE" sz="5000" b="1" u="none" strike="noStrike" spc="-26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mit </a:t>
            </a:r>
            <a:br>
              <a:rPr sz="5000"/>
            </a:b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maximal</a:t>
            </a:r>
            <a:r>
              <a:rPr lang="de-DE" sz="5000" b="1" u="none" strike="noStrike" spc="-286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 </a:t>
            </a: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zwei</a:t>
            </a:r>
            <a:r>
              <a:rPr lang="de-DE" sz="5000" b="1" u="none" strike="noStrike" spc="-281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 </a:t>
            </a:r>
            <a:r>
              <a:rPr lang="de-DE" sz="5000" b="1" u="none" strike="noStrike" spc="-11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Zeilen</a:t>
            </a:r>
            <a:endParaRPr lang="de-DE" sz="5000" b="1" u="none" strike="noStrike">
              <a:solidFill>
                <a:srgbClr val="267326"/>
              </a:solidFill>
              <a:effectLst/>
              <a:uFillTx/>
              <a:latin typeface="Source Sans Pro"/>
            </a:endParaRPr>
          </a:p>
        </p:txBody>
      </p:sp>
      <p:sp>
        <p:nvSpPr>
          <p:cNvPr id="41" name="Textfeld 4"/>
          <p:cNvSpPr/>
          <p:nvPr/>
        </p:nvSpPr>
        <p:spPr>
          <a:xfrm>
            <a:off x="623880" y="6564960"/>
            <a:ext cx="6097320" cy="20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750" b="1" u="none" strike="noStrike">
                <a:solidFill>
                  <a:srgbClr val="5F5F5F"/>
                </a:solidFill>
                <a:effectLst/>
                <a:uFillTx/>
                <a:latin typeface="Source Sans Pro"/>
              </a:rPr>
              <a:t>© Pädagogische Hochschule Karlsruhe (PHKA) </a:t>
            </a:r>
            <a:endParaRPr lang="de-DE" sz="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6"/>
          </p:nvPr>
        </p:nvSpPr>
        <p:spPr>
          <a:xfrm>
            <a:off x="615960" y="5837400"/>
            <a:ext cx="4211640" cy="73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1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1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Source Sans Pro"/>
                <a:ea typeface="Source Sans Pro"/>
              </a:rPr>
              <a:t>&lt;Fußzeile&gt;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einzeilig, große Head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2440"/>
            <a:ext cx="12191760" cy="655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5200"/>
              <a:gd name="textAreaBottom" fmla="*/ 655560 h 6552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4" name="Logo der ph Karlsruh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21280" y="6318720"/>
            <a:ext cx="1154160" cy="4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body"/>
          </p:nvPr>
        </p:nvSpPr>
        <p:spPr>
          <a:xfrm>
            <a:off x="635400" y="1641240"/>
            <a:ext cx="5384160" cy="440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Mastertextformat bearbeiten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Zweite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Dritte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Vierte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Fünfte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170400" y="1641240"/>
            <a:ext cx="5384160" cy="440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Mastertextformat bearbeiten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Zweite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Dritte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Vierte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Fünfte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title" hasCustomPrompt="1"/>
          </p:nvPr>
        </p:nvSpPr>
        <p:spPr>
          <a:xfrm>
            <a:off x="623880" y="620640"/>
            <a:ext cx="10944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Große</a:t>
            </a:r>
            <a:r>
              <a:rPr lang="de-DE" sz="5000" b="1" u="none" strike="noStrike" spc="-334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 </a:t>
            </a:r>
            <a:r>
              <a:rPr lang="de-DE" sz="5000" b="1" u="none" strike="noStrike" spc="-11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Headline</a:t>
            </a:r>
            <a:r>
              <a:rPr lang="de-DE" sz="5000" b="1" u="none" strike="noStrike" spc="-329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 </a:t>
            </a:r>
            <a:r>
              <a:rPr lang="de-DE" sz="5000" b="1" u="none" strike="noStrike" spc="-26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mit </a:t>
            </a: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einer</a:t>
            </a:r>
            <a:r>
              <a:rPr lang="de-DE" sz="5000" b="1" u="none" strike="noStrike" spc="-281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 </a:t>
            </a:r>
            <a:r>
              <a:rPr lang="de-DE" sz="5000" b="1" u="none" strike="noStrike" spc="-11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Zeile</a:t>
            </a:r>
            <a:endParaRPr lang="de-DE" sz="5000" b="1" u="none" strike="noStrike">
              <a:solidFill>
                <a:srgbClr val="267326"/>
              </a:solidFill>
              <a:effectLst/>
              <a:uFillTx/>
              <a:latin typeface="Source Sans Pro"/>
            </a:endParaRPr>
          </a:p>
        </p:txBody>
      </p:sp>
      <p:sp>
        <p:nvSpPr>
          <p:cNvPr id="48" name="Textfeld 5"/>
          <p:cNvSpPr/>
          <p:nvPr/>
        </p:nvSpPr>
        <p:spPr>
          <a:xfrm>
            <a:off x="615960" y="6567840"/>
            <a:ext cx="6097320" cy="20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750" b="1" u="none" strike="noStrike">
                <a:solidFill>
                  <a:srgbClr val="5F5F5F"/>
                </a:solidFill>
                <a:effectLst/>
                <a:uFillTx/>
                <a:latin typeface="Source Sans Pro"/>
              </a:rPr>
              <a:t>© Pädagogische Hochschule Karlsruhe (PHKA) </a:t>
            </a:r>
            <a:endParaRPr lang="de-DE" sz="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7"/>
          </p:nvPr>
        </p:nvSpPr>
        <p:spPr>
          <a:xfrm>
            <a:off x="615960" y="5837400"/>
            <a:ext cx="4211640" cy="73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1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1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Source Sans Pro"/>
                <a:ea typeface="Source Sans Pro"/>
              </a:rPr>
              <a:t>&lt;Fußzeile&gt;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dreizeilig, zwei Spalten mit Bil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2440"/>
            <a:ext cx="12191760" cy="655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5200"/>
              <a:gd name="textAreaBottom" fmla="*/ 655560 h 6552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1" name="Logo der ph Karlsruh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21280" y="6318720"/>
            <a:ext cx="1154160" cy="4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body"/>
          </p:nvPr>
        </p:nvSpPr>
        <p:spPr>
          <a:xfrm>
            <a:off x="635400" y="2177640"/>
            <a:ext cx="5384160" cy="387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  <a:def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Mastertextformat bearbeiten</a:t>
            </a:r>
            <a:endParaRPr lang="de-DE" sz="2500" b="1" u="none" strike="noStrike">
              <a:solidFill>
                <a:srgbClr val="267326"/>
              </a:solidFill>
              <a:effectLst/>
              <a:uFillTx/>
              <a:latin typeface="Source Sans Pro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Zweite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Dritte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Vierte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666666"/>
              </a:buClr>
              <a:buFont typeface="Arial"/>
              <a:buChar char="•"/>
            </a:pPr>
            <a:r>
              <a:rPr lang="de-DE" sz="25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Fünfte Ebene</a:t>
            </a:r>
            <a:endParaRPr lang="de-DE" sz="25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170400" y="636480"/>
            <a:ext cx="5384880" cy="541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  <a:tabLst>
                <a:tab pos="0" algn="l"/>
              </a:tabLst>
              <a:defRPr lang="de-DE" sz="1800" b="1" u="none" strike="noStrike">
                <a:solidFill>
                  <a:srgbClr val="267326"/>
                </a:solidFill>
                <a:effectLst/>
                <a:uFillTx/>
                <a:latin typeface="Source Sans Pro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  <a:tabLst>
                <a:tab pos="0" algn="l"/>
              </a:tabLst>
            </a:pPr>
            <a:r>
              <a:rPr lang="de-DE" sz="1800" b="1" u="none" strike="noStrike">
                <a:solidFill>
                  <a:srgbClr val="267326"/>
                </a:solidFill>
                <a:effectLst/>
                <a:uFillTx/>
                <a:latin typeface="Source Sans Pro"/>
              </a:rPr>
              <a:t>Format des Gliederungstextes durch Klicken bearbeiten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Zweite Gliederungsebene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Dritte Gliederungsebene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Vierte Gliederungsebene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Fünfte Gliederungsebene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Sechste Gliederungsebene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Siebte Gliederungsebene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body" hasCustomPrompt="1"/>
          </p:nvPr>
        </p:nvSpPr>
        <p:spPr>
          <a:xfrm>
            <a:off x="635040" y="636480"/>
            <a:ext cx="5384520" cy="1377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8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8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Eine lange Headline, die bis zu drei Zeilen lang sein darf, wenn dies benötigt wird</a:t>
            </a:r>
            <a:endParaRPr lang="de-DE" sz="2800" b="1" u="none" strike="noStrike">
              <a:solidFill>
                <a:srgbClr val="267326"/>
              </a:solidFill>
              <a:effectLst/>
              <a:uFillTx/>
              <a:latin typeface="Source Sans Pro"/>
            </a:endParaRPr>
          </a:p>
        </p:txBody>
      </p:sp>
      <p:sp>
        <p:nvSpPr>
          <p:cNvPr id="55" name="Textfeld 6"/>
          <p:cNvSpPr/>
          <p:nvPr/>
        </p:nvSpPr>
        <p:spPr>
          <a:xfrm>
            <a:off x="615960" y="6567840"/>
            <a:ext cx="6097320" cy="20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750" b="1" u="none" strike="noStrike">
                <a:solidFill>
                  <a:srgbClr val="5F5F5F"/>
                </a:solidFill>
                <a:effectLst/>
                <a:uFillTx/>
                <a:latin typeface="Source Sans Pro"/>
              </a:rPr>
              <a:t>© Pädagogische Hochschule Karlsruhe (PHKA) </a:t>
            </a:r>
            <a:endParaRPr lang="de-DE" sz="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8"/>
          </p:nvPr>
        </p:nvSpPr>
        <p:spPr>
          <a:xfrm>
            <a:off x="615960" y="5837400"/>
            <a:ext cx="4211640" cy="73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1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1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Source Sans Pro"/>
                <a:ea typeface="Source Sans Pro"/>
              </a:rPr>
              <a:t>&lt;Fußzeile&gt;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folie-grü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2440"/>
            <a:ext cx="12191760" cy="655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5200"/>
              <a:gd name="textAreaBottom" fmla="*/ 655560 h 6552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58" name="Logo der ph Karlsruh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21280" y="6318720"/>
            <a:ext cx="1154160" cy="4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0640"/>
            <a:ext cx="12191760" cy="6570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7000"/>
              <a:gd name="textAreaBottom" fmla="*/ 657360 h 6570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26732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0" name="Logo der ph Karlsruhe"/>
          <p:cNvPicPr/>
          <p:nvPr/>
        </p:nvPicPr>
        <p:blipFill>
          <a:blip r:embed="rId2"/>
          <a:stretch/>
        </p:blipFill>
        <p:spPr>
          <a:xfrm>
            <a:off x="630000" y="540000"/>
            <a:ext cx="2953440" cy="10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 hasCustomPrompt="1"/>
          </p:nvPr>
        </p:nvSpPr>
        <p:spPr>
          <a:xfrm>
            <a:off x="838080" y="2140200"/>
            <a:ext cx="10515240" cy="14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buNone/>
              <a:def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Diagnosebasierte Rechtschreibförderung</a:t>
            </a:r>
            <a:endParaRPr lang="de-DE" sz="5000" b="1" u="none" strike="noStrike">
              <a:solidFill>
                <a:srgbClr val="267326"/>
              </a:solidFill>
              <a:effectLst/>
              <a:uFillTx/>
              <a:latin typeface="Source Sans Pro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 hasCustomPrompt="1"/>
          </p:nvPr>
        </p:nvSpPr>
        <p:spPr>
          <a:xfrm>
            <a:off x="3278880" y="3867840"/>
            <a:ext cx="5633640" cy="14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1pPr>
            <a:lvl2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2pPr>
            <a:lvl3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defRPr>
            </a:lvl3pPr>
          </a:lstStyle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Die Hamburger schreibprobe (HSP)</a:t>
            </a:r>
            <a:endParaRPr lang="de-DE" sz="28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– Aspekte der Objektivität –</a:t>
            </a:r>
            <a:endParaRPr lang="de-DE" sz="28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  <a:ea typeface="Source Sans Pro"/>
              </a:rPr>
              <a:t>Sommersemester 2026</a:t>
            </a:r>
            <a:endParaRPr lang="de-DE" sz="2800" b="0" u="none" strike="noStrike">
              <a:solidFill>
                <a:srgbClr val="666666"/>
              </a:solidFill>
              <a:effectLst/>
              <a:uFillTx/>
              <a:latin typeface="Source Sans Pro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927800" y="-1179000"/>
            <a:ext cx="10515240" cy="49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1pPr>
            <a:lvl2pPr marL="228600" lvl="1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2pPr>
            <a:lvl3pPr marL="228600" lvl="2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Format des Gliederungstextes durch Klicken bearbeiten</a:t>
            </a:r>
          </a:p>
          <a:p>
            <a:pPr marL="228600" lvl="1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Zweite Gliederungsebene</a:t>
            </a:r>
          </a:p>
          <a:p>
            <a:pPr marL="228600" lvl="2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Dritte Gliederungsebene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Vierte Gliederungsebene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Fünfte Gliederungsebene</a:t>
            </a:r>
          </a:p>
          <a:p>
            <a:pPr marL="2514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Sechste Gliederungsebene</a:t>
            </a:r>
          </a:p>
          <a:p>
            <a:pPr marL="29718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Siebte Gliederungsebene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ftr" idx="9"/>
          </p:nvPr>
        </p:nvSpPr>
        <p:spPr>
          <a:xfrm>
            <a:off x="615960" y="5837400"/>
            <a:ext cx="4211640" cy="73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1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1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Source Sans Pro"/>
                <a:ea typeface="Source Sans Pro"/>
              </a:rPr>
              <a:t>&lt;Fußzeile&gt;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2440"/>
            <a:ext cx="12191760" cy="655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5200"/>
              <a:gd name="textAreaBottom" fmla="*/ 655560 h 6552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6" name="Logo der ph Karlsruh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21280" y="6318720"/>
            <a:ext cx="1154160" cy="4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15960" y="365040"/>
            <a:ext cx="109598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Titelmasterformat durch Klicken bearbeiten</a:t>
            </a:r>
            <a:endParaRPr lang="de-DE" sz="5000" b="1" u="none" strike="noStrike">
              <a:solidFill>
                <a:srgbClr val="267326"/>
              </a:solidFill>
              <a:effectLst/>
              <a:uFillTx/>
              <a:latin typeface="Source Sans Pro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Siebte Gliederungsebene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2440"/>
            <a:ext cx="12191760" cy="655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5200"/>
              <a:gd name="textAreaBottom" fmla="*/ 655560 h 6552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Logo der ph Karlsruh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21280" y="6318720"/>
            <a:ext cx="1154160" cy="4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</a:rPr>
              <a:t>Format des Titeltextes durch Klicken bearbeiten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Siebte Gliederungsebene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02440"/>
            <a:ext cx="12191760" cy="655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55200"/>
              <a:gd name="textAreaBottom" fmla="*/ 655560 h 655200"/>
            </a:gdLst>
            <a:ahLst/>
            <a:cxnLst/>
            <a:rect l="textAreaLeft" t="textAreaTop" r="textAreaRight" b="textAreaBottom"/>
            <a:pathLst>
              <a:path w="20104100" h="1080770">
                <a:moveTo>
                  <a:pt x="20104099" y="0"/>
                </a:moveTo>
                <a:lnTo>
                  <a:pt x="0" y="571019"/>
                </a:lnTo>
                <a:lnTo>
                  <a:pt x="0" y="1080700"/>
                </a:lnTo>
                <a:lnTo>
                  <a:pt x="20104099" y="1080700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Logo der ph Karlsruh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0421280" y="6318720"/>
            <a:ext cx="1154160" cy="4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15960" y="365040"/>
            <a:ext cx="109598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5000" b="1" u="none" strike="noStrike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Titelmasterformat durch Klicken bearbeiten</a:t>
            </a:r>
            <a:endParaRPr lang="de-DE" sz="5000" b="1" u="none" strike="noStrike">
              <a:solidFill>
                <a:srgbClr val="267326"/>
              </a:solidFill>
              <a:effectLst/>
              <a:uFillTx/>
              <a:latin typeface="Source Sans Pro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  <a:def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666666"/>
              </a:buClr>
              <a:buFont typeface="Arial"/>
              <a:buChar char="•"/>
            </a:pPr>
            <a:r>
              <a:rPr lang="de-DE" sz="2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Format des Gliederungstextes durch Klicken bearbeiten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Zweite Gliederungsebene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Dritte Gliederungsebene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Vierte Gliederungsebene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Fünfte Gliederungsebene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Sechste Gliederungsebene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666666"/>
                </a:solidFill>
                <a:effectLst/>
                <a:uFillTx/>
                <a:latin typeface="Source Sans Pro"/>
              </a:rPr>
              <a:t>Siebte Gliederungsebene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title"/>
          </p:nvPr>
        </p:nvSpPr>
        <p:spPr>
          <a:xfrm>
            <a:off x="623880" y="620640"/>
            <a:ext cx="109440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 dirty="0">
                <a:solidFill>
                  <a:srgbClr val="267326"/>
                </a:solidFill>
                <a:effectLst/>
                <a:uFillTx/>
                <a:latin typeface="Source Sans Pro"/>
                <a:ea typeface="Source Sans Pro"/>
              </a:rPr>
              <a:t>Modell der kollegialen Fallberatung</a:t>
            </a:r>
            <a:endParaRPr lang="de-DE" sz="3600" b="1" u="none" strike="noStrike" dirty="0">
              <a:solidFill>
                <a:srgbClr val="267326"/>
              </a:solidFill>
              <a:effectLst/>
              <a:uFillTx/>
              <a:latin typeface="Source Sans Pro"/>
            </a:endParaRPr>
          </a:p>
        </p:txBody>
      </p:sp>
      <p:grpSp>
        <p:nvGrpSpPr>
          <p:cNvPr id="1060" name="Gruppieren 11"/>
          <p:cNvGrpSpPr/>
          <p:nvPr/>
        </p:nvGrpSpPr>
        <p:grpSpPr>
          <a:xfrm>
            <a:off x="983520" y="1822320"/>
            <a:ext cx="8748720" cy="3840840"/>
            <a:chOff x="983520" y="1822320"/>
            <a:chExt cx="8748720" cy="3840840"/>
          </a:xfrm>
        </p:grpSpPr>
        <p:sp>
          <p:nvSpPr>
            <p:cNvPr id="1061" name="Pfeil nach unten 12"/>
            <p:cNvSpPr/>
            <p:nvPr/>
          </p:nvSpPr>
          <p:spPr>
            <a:xfrm>
              <a:off x="983520" y="1822320"/>
              <a:ext cx="2529360" cy="38408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8CD000"/>
            </a:solidFill>
            <a:ln>
              <a:solidFill>
                <a:srgbClr val="8CD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de-DE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2" name="Textfeld 13"/>
            <p:cNvSpPr/>
            <p:nvPr/>
          </p:nvSpPr>
          <p:spPr>
            <a:xfrm>
              <a:off x="2315160" y="1822320"/>
              <a:ext cx="7417080" cy="3521160"/>
            </a:xfrm>
            <a:prstGeom prst="rect">
              <a:avLst/>
            </a:prstGeom>
            <a:solidFill>
              <a:srgbClr val="F0E5DE"/>
            </a:solidFill>
            <a:ln w="0">
              <a:solidFill>
                <a:srgbClr val="F0E5DE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marL="343080" indent="-343080" defTabSz="914400">
                <a:lnSpc>
                  <a:spcPct val="150000"/>
                </a:lnSpc>
                <a:spcAft>
                  <a:spcPts val="51"/>
                </a:spcAft>
                <a:buClr>
                  <a:srgbClr val="32414B"/>
                </a:buClr>
                <a:buFont typeface="Calibri Light"/>
                <a:buAutoNum type="arabicPeriod"/>
              </a:pPr>
              <a:r>
                <a:rPr lang="de-DE" sz="1600" b="1" u="none" strike="noStrike">
                  <a:solidFill>
                    <a:srgbClr val="32414B"/>
                  </a:solidFill>
                  <a:effectLst/>
                  <a:uFillTx/>
                  <a:latin typeface="Source Sans Pro"/>
                  <a:ea typeface="Source Sans Pro"/>
                </a:rPr>
                <a:t>Klärung</a:t>
              </a:r>
              <a:endParaRPr lang="de-DE" sz="16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marL="343080" indent="-343080" defTabSz="914400">
                <a:lnSpc>
                  <a:spcPct val="150000"/>
                </a:lnSpc>
                <a:spcAft>
                  <a:spcPts val="51"/>
                </a:spcAft>
                <a:buClr>
                  <a:srgbClr val="32414B"/>
                </a:buClr>
                <a:buFont typeface="Calibri Light"/>
                <a:buAutoNum type="arabicPeriod"/>
              </a:pPr>
              <a:r>
                <a:rPr lang="de-DE" sz="1600" b="1" u="none" strike="noStrike">
                  <a:solidFill>
                    <a:srgbClr val="32414B"/>
                  </a:solidFill>
                  <a:effectLst/>
                  <a:uFillTx/>
                  <a:latin typeface="Source Sans Pro"/>
                  <a:ea typeface="Source Sans Pro"/>
                </a:rPr>
                <a:t>Schilderung des Falls</a:t>
              </a:r>
              <a:endParaRPr lang="de-DE" sz="16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marL="343080" indent="-343080" defTabSz="914400">
                <a:lnSpc>
                  <a:spcPct val="150000"/>
                </a:lnSpc>
                <a:spcAft>
                  <a:spcPts val="51"/>
                </a:spcAft>
                <a:buClr>
                  <a:srgbClr val="32414B"/>
                </a:buClr>
                <a:buFont typeface="Calibri Light"/>
                <a:buAutoNum type="arabicPeriod"/>
              </a:pPr>
              <a:r>
                <a:rPr lang="de-DE" sz="1600" b="1" u="none" strike="noStrike">
                  <a:solidFill>
                    <a:srgbClr val="32414B"/>
                  </a:solidFill>
                  <a:effectLst/>
                  <a:uFillTx/>
                  <a:latin typeface="Source Sans Pro"/>
                  <a:ea typeface="Source Sans Pro"/>
                </a:rPr>
                <a:t>Beantwortung von Verständnisfragen</a:t>
              </a:r>
              <a:endParaRPr lang="de-DE" sz="16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marL="343080" indent="-343080" defTabSz="914400">
                <a:lnSpc>
                  <a:spcPct val="150000"/>
                </a:lnSpc>
                <a:spcAft>
                  <a:spcPts val="51"/>
                </a:spcAft>
                <a:buClr>
                  <a:srgbClr val="32414B"/>
                </a:buClr>
                <a:buFont typeface="Calibri Light"/>
                <a:buAutoNum type="arabicPeriod"/>
              </a:pPr>
              <a:r>
                <a:rPr lang="de-DE" sz="1600" b="1" u="none" strike="noStrike">
                  <a:solidFill>
                    <a:srgbClr val="32414B"/>
                  </a:solidFill>
                  <a:effectLst/>
                  <a:uFillTx/>
                  <a:latin typeface="Source Sans Pro"/>
                  <a:ea typeface="Source Sans Pro"/>
                </a:rPr>
                <a:t>Schilderung von Gefühlen zu dem Fall</a:t>
              </a:r>
              <a:endParaRPr lang="de-DE" sz="16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marL="343080" indent="-343080" defTabSz="914400">
                <a:lnSpc>
                  <a:spcPct val="150000"/>
                </a:lnSpc>
                <a:spcAft>
                  <a:spcPts val="51"/>
                </a:spcAft>
                <a:buClr>
                  <a:srgbClr val="32414B"/>
                </a:buClr>
                <a:buFont typeface="Calibri Light"/>
                <a:buAutoNum type="arabicPeriod"/>
              </a:pPr>
              <a:r>
                <a:rPr lang="de-DE" sz="1600" b="1" u="none" strike="noStrike">
                  <a:solidFill>
                    <a:srgbClr val="32414B"/>
                  </a:solidFill>
                  <a:effectLst/>
                  <a:uFillTx/>
                  <a:latin typeface="Source Sans Pro"/>
                  <a:ea typeface="Source Sans Pro"/>
                </a:rPr>
                <a:t>Perspektivenwechsel</a:t>
              </a:r>
              <a:endParaRPr lang="de-DE" sz="16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marL="343080" indent="-343080" defTabSz="914400">
                <a:lnSpc>
                  <a:spcPct val="150000"/>
                </a:lnSpc>
                <a:spcAft>
                  <a:spcPts val="51"/>
                </a:spcAft>
                <a:buClr>
                  <a:srgbClr val="32414B"/>
                </a:buClr>
                <a:buFont typeface="Calibri Light"/>
                <a:buAutoNum type="arabicPeriod"/>
              </a:pPr>
              <a:r>
                <a:rPr lang="de-DE" sz="1600" b="1" u="none" strike="noStrike">
                  <a:solidFill>
                    <a:srgbClr val="32414B"/>
                  </a:solidFill>
                  <a:effectLst/>
                  <a:uFillTx/>
                  <a:latin typeface="Source Sans Pro"/>
                  <a:ea typeface="Source Sans Pro"/>
                </a:rPr>
                <a:t>Rückmeldung durch den Fallgeber</a:t>
              </a:r>
              <a:endParaRPr lang="de-DE" sz="16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marL="343080" indent="-343080" defTabSz="914400">
                <a:lnSpc>
                  <a:spcPct val="150000"/>
                </a:lnSpc>
                <a:spcAft>
                  <a:spcPts val="51"/>
                </a:spcAft>
                <a:buClr>
                  <a:srgbClr val="32414B"/>
                </a:buClr>
                <a:buFont typeface="Calibri Light"/>
                <a:buAutoNum type="arabicPeriod"/>
              </a:pPr>
              <a:r>
                <a:rPr lang="de-DE" sz="1600" b="1" u="none" strike="noStrike">
                  <a:solidFill>
                    <a:srgbClr val="32414B"/>
                  </a:solidFill>
                  <a:effectLst/>
                  <a:uFillTx/>
                  <a:latin typeface="Source Sans Pro"/>
                  <a:ea typeface="Source Sans Pro"/>
                </a:rPr>
                <a:t>Formulierung der Beratungsfrage</a:t>
              </a:r>
              <a:endParaRPr lang="de-DE" sz="16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marL="343080" indent="-343080" defTabSz="914400">
                <a:lnSpc>
                  <a:spcPct val="150000"/>
                </a:lnSpc>
                <a:spcAft>
                  <a:spcPts val="51"/>
                </a:spcAft>
                <a:buClr>
                  <a:srgbClr val="32414B"/>
                </a:buClr>
                <a:buFont typeface="Calibri Light"/>
                <a:buAutoNum type="arabicPeriod"/>
              </a:pPr>
              <a:r>
                <a:rPr lang="de-DE" sz="1600" b="1" u="none" strike="noStrike">
                  <a:solidFill>
                    <a:srgbClr val="32414B"/>
                  </a:solidFill>
                  <a:effectLst/>
                  <a:uFillTx/>
                  <a:latin typeface="Source Sans Pro"/>
                  <a:ea typeface="Source Sans Pro"/>
                </a:rPr>
                <a:t>Sammlung von Lösungsideen</a:t>
              </a:r>
              <a:endParaRPr lang="de-DE" sz="16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  <a:p>
              <a:pPr marL="343080" indent="-343080" defTabSz="914400">
                <a:lnSpc>
                  <a:spcPct val="150000"/>
                </a:lnSpc>
                <a:spcAft>
                  <a:spcPts val="51"/>
                </a:spcAft>
                <a:buClr>
                  <a:srgbClr val="32414B"/>
                </a:buClr>
                <a:buFont typeface="Calibri Light"/>
                <a:buAutoNum type="arabicPeriod"/>
              </a:pPr>
              <a:r>
                <a:rPr lang="de-DE" sz="1600" b="1" u="none" strike="noStrike">
                  <a:solidFill>
                    <a:srgbClr val="32414B"/>
                  </a:solidFill>
                  <a:effectLst/>
                  <a:uFillTx/>
                  <a:latin typeface="Source Sans Pro"/>
                  <a:ea typeface="Source Sans Pro"/>
                </a:rPr>
                <a:t>Sharing</a:t>
              </a:r>
              <a:endParaRPr lang="de-DE" sz="16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63" name="Ovale Legende 6"/>
          <p:cNvSpPr/>
          <p:nvPr/>
        </p:nvSpPr>
        <p:spPr>
          <a:xfrm>
            <a:off x="6543360" y="4051440"/>
            <a:ext cx="2520000" cy="1079640"/>
          </a:xfrm>
          <a:prstGeom prst="wedgeEllipseCallout">
            <a:avLst>
              <a:gd name="adj1" fmla="val -93326"/>
              <a:gd name="adj2" fmla="val 27909"/>
            </a:avLst>
          </a:prstGeom>
          <a:solidFill>
            <a:srgbClr val="216F27"/>
          </a:solidFill>
          <a:ln>
            <a:solidFill>
              <a:srgbClr val="216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rgbClr val="FFFFFF">
                  <a:alpha val="1000"/>
                </a:srgbClr>
              </a:solidFill>
              <a:effectLst/>
              <a:uFillTx/>
              <a:latin typeface="Arial"/>
            </a:endParaRPr>
          </a:p>
        </p:txBody>
      </p:sp>
      <p:sp>
        <p:nvSpPr>
          <p:cNvPr id="1064" name="Textfeld 8"/>
          <p:cNvSpPr/>
          <p:nvPr/>
        </p:nvSpPr>
        <p:spPr>
          <a:xfrm>
            <a:off x="6687360" y="4391640"/>
            <a:ext cx="237600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ＭＳ Ｐゴシック"/>
              </a:rPr>
              <a:t>Theorieanbindung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" name="Fußzeilenplatzhalter 5">
            <a:extLst>
              <a:ext uri="{FF2B5EF4-FFF2-40B4-BE49-F238E27FC236}">
                <a16:creationId xmlns:a16="http://schemas.microsoft.com/office/drawing/2014/main" id="{A5996C73-BE68-711F-FA28-D6482E2D695A}"/>
              </a:ext>
            </a:extLst>
          </p:cNvPr>
          <p:cNvSpPr/>
          <p:nvPr/>
        </p:nvSpPr>
        <p:spPr>
          <a:xfrm>
            <a:off x="214516" y="6320959"/>
            <a:ext cx="4211640" cy="4131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de-DE" sz="1100" b="0" u="none" strike="noStrike" dirty="0">
                <a:solidFill>
                  <a:schemeClr val="lt2">
                    <a:lumMod val="75000"/>
                  </a:schemeClr>
                </a:solidFill>
                <a:effectLst/>
                <a:uFillTx/>
                <a:latin typeface="Source Sans Pro"/>
                <a:ea typeface="Source Sans Pro"/>
              </a:rPr>
              <a:t>Sommersemester 2026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lang="de-DE" sz="1100" b="0" u="none" strike="noStrike" dirty="0">
                <a:solidFill>
                  <a:schemeClr val="lt2">
                    <a:lumMod val="75000"/>
                  </a:schemeClr>
                </a:solidFill>
                <a:effectLst/>
                <a:uFillTx/>
                <a:latin typeface="Source Sans Pro"/>
                <a:ea typeface="Source Sans Pro"/>
              </a:rPr>
              <a:t>Dr. Eva Prinz </a:t>
            </a:r>
            <a:endParaRPr lang="de-DE" sz="11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38E7213-D98D-8E15-C181-E599238463B4}"/>
              </a:ext>
            </a:extLst>
          </p:cNvPr>
          <p:cNvSpPr/>
          <p:nvPr/>
        </p:nvSpPr>
        <p:spPr>
          <a:xfrm>
            <a:off x="2649515" y="5525387"/>
            <a:ext cx="7082725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1200" b="0" u="none" strike="noStrike" dirty="0">
                <a:solidFill>
                  <a:schemeClr val="lt2">
                    <a:lumMod val="75000"/>
                  </a:schemeClr>
                </a:solidFill>
                <a:effectLst/>
                <a:uFillTx/>
                <a:latin typeface="Arial"/>
                <a:ea typeface="ＭＳ Ｐゴシック"/>
              </a:rPr>
              <a:t>Quelle: Kiel, E., Frey, A. &amp; Weiß, S. (2013). </a:t>
            </a:r>
            <a:r>
              <a:rPr lang="de-DE" sz="1200" b="0" i="1" u="none" strike="noStrike" dirty="0">
                <a:solidFill>
                  <a:schemeClr val="lt2">
                    <a:lumMod val="75000"/>
                  </a:schemeClr>
                </a:solidFill>
                <a:effectLst/>
                <a:uFillTx/>
                <a:latin typeface="Arial"/>
                <a:ea typeface="ＭＳ Ｐゴシック"/>
              </a:rPr>
              <a:t>Trainingsbuch Klassenführung</a:t>
            </a:r>
            <a:r>
              <a:rPr lang="de-DE" sz="1200" b="0" u="none" strike="noStrike" dirty="0">
                <a:solidFill>
                  <a:schemeClr val="lt2">
                    <a:lumMod val="75000"/>
                  </a:schemeClr>
                </a:solidFill>
                <a:effectLst/>
                <a:uFillTx/>
                <a:latin typeface="Arial"/>
                <a:ea typeface="ＭＳ Ｐゴシック"/>
              </a:rPr>
              <a:t>. Bad Heilbrunn: Klinkhardt.</a:t>
            </a:r>
            <a:endParaRPr lang="de-DE" sz="12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691968"/>
      </p:ext>
    </p:extLst>
  </p:cSld>
  <p:clrMapOvr>
    <a:masterClrMapping/>
  </p:clrMapOvr>
</p:sld>
</file>

<file path=ppt/theme/theme1.xml><?xml version="1.0" encoding="utf-8"?>
<a:theme xmlns:a="http://schemas.openxmlformats.org/drawingml/2006/main" name="Inhaltsfolien Auswahl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208</Words>
  <Application>Microsoft Macintosh PowerPoint</Application>
  <PresentationFormat>Breitbild</PresentationFormat>
  <Paragraphs>19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11" baseType="lpstr">
      <vt:lpstr>Arial</vt:lpstr>
      <vt:lpstr>Calibri</vt:lpstr>
      <vt:lpstr>Calibri Light</vt:lpstr>
      <vt:lpstr>Helvetica Neue</vt:lpstr>
      <vt:lpstr>OpenSymbol</vt:lpstr>
      <vt:lpstr>Source Sans Pro</vt:lpstr>
      <vt:lpstr>Source Sans Pro SemiBold</vt:lpstr>
      <vt:lpstr>Symbol</vt:lpstr>
      <vt:lpstr>Wingdings</vt:lpstr>
      <vt:lpstr>Inhaltsfolien Auswahl</vt:lpstr>
      <vt:lpstr>Modell der kollegialen Fallberatung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Gundula Wagner-Rexin</dc:creator>
  <dc:description/>
  <cp:lastModifiedBy>Eva Prinz</cp:lastModifiedBy>
  <cp:revision>148</cp:revision>
  <dcterms:created xsi:type="dcterms:W3CDTF">2019-10-17T10:01:08Z</dcterms:created>
  <dcterms:modified xsi:type="dcterms:W3CDTF">2026-05-08T11:09:43Z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2</vt:r8>
  </property>
  <property fmtid="{D5CDD505-2E9C-101B-9397-08002B2CF9AE}" pid="3" name="Notes">
    <vt:r8>212</vt:r8>
  </property>
  <property fmtid="{D5CDD505-2E9C-101B-9397-08002B2CF9AE}" pid="4" name="PresentationFormat">
    <vt:lpwstr>Breitbild</vt:lpwstr>
  </property>
  <property fmtid="{D5CDD505-2E9C-101B-9397-08002B2CF9AE}" pid="5" name="Slides">
    <vt:r8>231</vt:r8>
  </property>
</Properties>
</file>